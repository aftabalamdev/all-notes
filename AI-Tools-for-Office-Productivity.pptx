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Manrope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2.png"/><Relationship Id="rId9" Type="http://schemas.openxmlformats.org/officeDocument/2006/relationships/image" Target="../media/image-5-3.svg"/><Relationship Id="rId10" Type="http://schemas.openxmlformats.org/officeDocument/2006/relationships/image" Target="../media/image-5-2.png"/><Relationship Id="rId11" Type="http://schemas.openxmlformats.org/officeDocument/2006/relationships/image" Target="../media/image-5-3.svg"/><Relationship Id="rId12" Type="http://schemas.openxmlformats.org/officeDocument/2006/relationships/image" Target="../media/image-5-2.png"/><Relationship Id="rId13" Type="http://schemas.openxmlformats.org/officeDocument/2006/relationships/image" Target="../media/image-5-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3.png"/><Relationship Id="rId6" Type="http://schemas.openxmlformats.org/officeDocument/2006/relationships/image" Target="../media/image-8-4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7.png"/><Relationship Id="rId10" Type="http://schemas.openxmlformats.org/officeDocument/2006/relationships/image" Target="../media/image-8-8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86" y="0"/>
            <a:ext cx="7619809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479524"/>
            <a:ext cx="2121740" cy="213717"/>
          </a:xfrm>
          <a:prstGeom prst="roundRect">
            <a:avLst>
              <a:gd name="adj" fmla="val 22102"/>
            </a:avLst>
          </a:prstGeom>
          <a:solidFill>
            <a:srgbClr val="E6D5B8"/>
          </a:solidFill>
          <a:ln/>
        </p:spPr>
      </p:sp>
      <p:sp>
        <p:nvSpPr>
          <p:cNvPr id="4" name="Text 1"/>
          <p:cNvSpPr/>
          <p:nvPr/>
        </p:nvSpPr>
        <p:spPr>
          <a:xfrm>
            <a:off x="745809" y="521692"/>
            <a:ext cx="2562657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1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NIA BRANCH OFFICE CHANDIGARH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740966"/>
            <a:ext cx="3248936" cy="181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spc="38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AI Tools for Office Productivity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61475" y="2738834"/>
            <a:ext cx="3248936" cy="439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14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Practical Applications of Artificial Intelligence with MS Office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61475" y="3357166"/>
            <a:ext cx="3248936" cy="39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spc="11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One-Day Training Session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spc="11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Faculty: CBITSS, Chandigarh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1475" y="3881636"/>
            <a:ext cx="3248936" cy="2496840"/>
          </a:xfrm>
          <a:prstGeom prst="roundRect">
            <a:avLst>
              <a:gd name="adj" fmla="val 2365"/>
            </a:avLst>
          </a:prstGeom>
          <a:solidFill>
            <a:srgbClr val="ECF0EF"/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3881636"/>
            <a:ext cx="3248936" cy="767259"/>
          </a:xfrm>
          <a:custGeom>
            <a:avLst/>
            <a:gdLst/>
            <a:ahLst/>
            <a:cxnLst/>
            <a:rect l="l" t="t" r="r" b="b"/>
            <a:pathLst>
              <a:path w="3248936" h="767259">
                <a:moveTo>
                  <a:pt x="49204" y="0"/>
                </a:moveTo>
                <a:lnTo>
                  <a:pt x="3199732" y="0"/>
                </a:lnTo>
                <a:arcTo hR="49205" wR="49204" stAng="16200000" swAng="5400000"/>
                <a:lnTo>
                  <a:pt x="3248936" y="767259"/>
                </a:lnTo>
                <a:lnTo>
                  <a:pt x="0" y="767259"/>
                </a:lnTo>
                <a:lnTo>
                  <a:pt x="0" y="49205"/>
                </a:lnTo>
                <a:arcTo hR="49205" wR="49204" stAng="10800000" swAng="5400000"/>
                <a:close/>
              </a:path>
            </a:pathLst>
          </a:custGeom>
          <a:solidFill>
            <a:srgbClr val="ECF0EF"/>
          </a:solidFill>
          <a:ln/>
        </p:spPr>
      </p:sp>
      <p:sp>
        <p:nvSpPr>
          <p:cNvPr id="10" name="Text 7"/>
          <p:cNvSpPr/>
          <p:nvPr/>
        </p:nvSpPr>
        <p:spPr>
          <a:xfrm>
            <a:off x="801965" y="4022130"/>
            <a:ext cx="296795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14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Session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1965" y="4313337"/>
            <a:ext cx="2967955" cy="195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spc="11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14:30 – 17:30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1475" y="4648895"/>
            <a:ext cx="3248936" cy="767259"/>
          </a:xfrm>
          <a:prstGeom prst="rect">
            <a:avLst/>
          </a:prstGeom>
          <a:solidFill>
            <a:srgbClr val="ECF0EF"/>
          </a:solidFill>
          <a:ln/>
        </p:spPr>
      </p:sp>
      <p:sp>
        <p:nvSpPr>
          <p:cNvPr id="13" name="Shape 10"/>
          <p:cNvSpPr/>
          <p:nvPr/>
        </p:nvSpPr>
        <p:spPr>
          <a:xfrm>
            <a:off x="661475" y="4648895"/>
            <a:ext cx="3248936" cy="19050"/>
          </a:xfrm>
          <a:prstGeom prst="roundRect">
            <a:avLst>
              <a:gd name="adj" fmla="val 49999"/>
            </a:avLst>
          </a:prstGeom>
          <a:solidFill>
            <a:srgbClr val="D2D6D5"/>
          </a:solidFill>
          <a:ln/>
        </p:spPr>
      </p:sp>
      <p:sp>
        <p:nvSpPr>
          <p:cNvPr id="14" name="Text 11"/>
          <p:cNvSpPr/>
          <p:nvPr/>
        </p:nvSpPr>
        <p:spPr>
          <a:xfrm>
            <a:off x="801965" y="4789388"/>
            <a:ext cx="296795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14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Audience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01965" y="5080595"/>
            <a:ext cx="2967955" cy="195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spc="11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1475" y="5416153"/>
            <a:ext cx="3248936" cy="962323"/>
          </a:xfrm>
          <a:custGeom>
            <a:avLst/>
            <a:gdLst/>
            <a:ahLst/>
            <a:cxnLst/>
            <a:rect l="l" t="t" r="r" b="b"/>
            <a:pathLst>
              <a:path w="3248936" h="962323">
                <a:moveTo>
                  <a:pt x="0" y="0"/>
                </a:moveTo>
                <a:lnTo>
                  <a:pt x="3248936" y="0"/>
                </a:lnTo>
                <a:lnTo>
                  <a:pt x="3248936" y="913118"/>
                </a:lnTo>
                <a:arcTo hR="49205" wR="49204" stAng="0" swAng="5400000"/>
                <a:lnTo>
                  <a:pt x="49204" y="962323"/>
                </a:lnTo>
                <a:arcTo hR="49205" wR="49204" stAng="5400000" swAng="5400000"/>
                <a:lnTo>
                  <a:pt x="0" y="0"/>
                </a:lnTo>
                <a:close/>
              </a:path>
            </a:pathLst>
          </a:custGeom>
          <a:solidFill>
            <a:srgbClr val="ECF0EF"/>
          </a:solidFill>
          <a:ln/>
        </p:spPr>
      </p:sp>
      <p:sp>
        <p:nvSpPr>
          <p:cNvPr id="17" name="Shape 14"/>
          <p:cNvSpPr/>
          <p:nvPr/>
        </p:nvSpPr>
        <p:spPr>
          <a:xfrm>
            <a:off x="661475" y="5416153"/>
            <a:ext cx="3248936" cy="19050"/>
          </a:xfrm>
          <a:prstGeom prst="roundRect">
            <a:avLst>
              <a:gd name="adj" fmla="val 49999"/>
            </a:avLst>
          </a:prstGeom>
          <a:solidFill>
            <a:srgbClr val="D2D6D5"/>
          </a:solidFill>
          <a:ln/>
        </p:spPr>
      </p:sp>
      <p:sp>
        <p:nvSpPr>
          <p:cNvPr id="18" name="Text 15"/>
          <p:cNvSpPr/>
          <p:nvPr/>
        </p:nvSpPr>
        <p:spPr>
          <a:xfrm>
            <a:off x="801965" y="5556647"/>
            <a:ext cx="296795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14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Tools Covered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01965" y="5847854"/>
            <a:ext cx="2967955" cy="39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spc="11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 · Excel · PowerPoint · Email · AI Assistants . N8N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3771" y="0"/>
            <a:ext cx="304792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09488"/>
            <a:ext cx="1090684" cy="213717"/>
          </a:xfrm>
          <a:prstGeom prst="roundRect">
            <a:avLst>
              <a:gd name="adj" fmla="val 22102"/>
            </a:avLst>
          </a:prstGeom>
          <a:solidFill>
            <a:srgbClr val="E6D5B8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09" y="560090"/>
            <a:ext cx="112412" cy="1124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377" y="551656"/>
            <a:ext cx="1363033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1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661475" y="770930"/>
            <a:ext cx="7820822" cy="878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28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What is Generative AI — and Why Should Care?</a:t>
            </a:r>
            <a:endParaRPr lang="en-US" sz="2750" dirty="0"/>
          </a:p>
        </p:txBody>
      </p:sp>
      <p:sp>
        <p:nvSpPr>
          <p:cNvPr id="7" name="Shape 3"/>
          <p:cNvSpPr/>
          <p:nvPr/>
        </p:nvSpPr>
        <p:spPr>
          <a:xfrm>
            <a:off x="4562361" y="1828602"/>
            <a:ext cx="19050" cy="4519811"/>
          </a:xfrm>
          <a:prstGeom prst="roundRect">
            <a:avLst>
              <a:gd name="adj" fmla="val 49999"/>
            </a:avLst>
          </a:prstGeom>
          <a:solidFill>
            <a:srgbClr val="E5E5E5"/>
          </a:solidFill>
          <a:ln/>
        </p:spPr>
      </p:sp>
      <p:sp>
        <p:nvSpPr>
          <p:cNvPr id="8" name="Shape 4"/>
          <p:cNvSpPr/>
          <p:nvPr/>
        </p:nvSpPr>
        <p:spPr>
          <a:xfrm>
            <a:off x="4169266" y="2690316"/>
            <a:ext cx="421669" cy="19050"/>
          </a:xfrm>
          <a:prstGeom prst="roundRect">
            <a:avLst>
              <a:gd name="adj" fmla="val 49999"/>
            </a:avLst>
          </a:prstGeom>
          <a:solidFill>
            <a:srgbClr val="E5E5E5"/>
          </a:solidFill>
          <a:ln/>
        </p:spPr>
      </p:sp>
      <p:sp>
        <p:nvSpPr>
          <p:cNvPr id="9" name="Shape 5"/>
          <p:cNvSpPr/>
          <p:nvPr/>
        </p:nvSpPr>
        <p:spPr>
          <a:xfrm>
            <a:off x="4519202" y="2647156"/>
            <a:ext cx="105368" cy="1053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661475" y="1828602"/>
            <a:ext cx="3488742" cy="1742579"/>
          </a:xfrm>
          <a:prstGeom prst="roundRect">
            <a:avLst>
              <a:gd name="adj" fmla="val 3388"/>
            </a:avLst>
          </a:prstGeom>
          <a:solidFill>
            <a:srgbClr val="ECF0EF"/>
          </a:solidFill>
          <a:ln/>
        </p:spPr>
      </p:sp>
      <p:sp>
        <p:nvSpPr>
          <p:cNvPr id="11" name="Text 7"/>
          <p:cNvSpPr/>
          <p:nvPr/>
        </p:nvSpPr>
        <p:spPr>
          <a:xfrm>
            <a:off x="801965" y="1969095"/>
            <a:ext cx="320776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spc="14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What is Generative AI?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01965" y="2260302"/>
            <a:ext cx="3207761" cy="1170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100" spc="11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that can produce human-quality text, summaries, drafts, and data insights in seconds — trained on vast amounts of written knowledge. Unlike a search engine, it generates new content based on your instructions.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52836" y="3393976"/>
            <a:ext cx="421669" cy="19050"/>
          </a:xfrm>
          <a:prstGeom prst="roundRect">
            <a:avLst>
              <a:gd name="adj" fmla="val 49999"/>
            </a:avLst>
          </a:prstGeom>
          <a:solidFill>
            <a:srgbClr val="E5E5E5"/>
          </a:solidFill>
          <a:ln/>
        </p:spPr>
      </p:sp>
      <p:sp>
        <p:nvSpPr>
          <p:cNvPr id="14" name="Shape 10"/>
          <p:cNvSpPr/>
          <p:nvPr/>
        </p:nvSpPr>
        <p:spPr>
          <a:xfrm>
            <a:off x="4519202" y="3350816"/>
            <a:ext cx="105368" cy="1053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4993555" y="2629793"/>
            <a:ext cx="3488742" cy="1547515"/>
          </a:xfrm>
          <a:prstGeom prst="roundRect">
            <a:avLst>
              <a:gd name="adj" fmla="val 3815"/>
            </a:avLst>
          </a:prstGeom>
          <a:solidFill>
            <a:srgbClr val="ECF0EF"/>
          </a:solidFill>
          <a:ln/>
        </p:spPr>
      </p:sp>
      <p:sp>
        <p:nvSpPr>
          <p:cNvPr id="16" name="Text 12"/>
          <p:cNvSpPr/>
          <p:nvPr/>
        </p:nvSpPr>
        <p:spPr>
          <a:xfrm>
            <a:off x="5134045" y="2770287"/>
            <a:ext cx="320776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14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AI vs Traditional Software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134045" y="3061494"/>
            <a:ext cx="3207761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spc="11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software follows fixed rules and requires precise input. AI understands natural language, adapts to context, and handles ambiguous requests — making it usable without technical expertise.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169266" y="4671814"/>
            <a:ext cx="421669" cy="19050"/>
          </a:xfrm>
          <a:prstGeom prst="roundRect">
            <a:avLst>
              <a:gd name="adj" fmla="val 49999"/>
            </a:avLst>
          </a:prstGeom>
          <a:solidFill>
            <a:srgbClr val="E5E5E5"/>
          </a:solidFill>
          <a:ln/>
        </p:spPr>
      </p:sp>
      <p:sp>
        <p:nvSpPr>
          <p:cNvPr id="19" name="Shape 15"/>
          <p:cNvSpPr/>
          <p:nvPr/>
        </p:nvSpPr>
        <p:spPr>
          <a:xfrm>
            <a:off x="4519202" y="4628654"/>
            <a:ext cx="105368" cy="1053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661475" y="3810099"/>
            <a:ext cx="3488742" cy="1742579"/>
          </a:xfrm>
          <a:prstGeom prst="roundRect">
            <a:avLst>
              <a:gd name="adj" fmla="val 3388"/>
            </a:avLst>
          </a:prstGeom>
          <a:solidFill>
            <a:srgbClr val="ECF0EF"/>
          </a:solidFill>
          <a:ln/>
        </p:spPr>
      </p:sp>
      <p:sp>
        <p:nvSpPr>
          <p:cNvPr id="21" name="Text 17"/>
          <p:cNvSpPr/>
          <p:nvPr/>
        </p:nvSpPr>
        <p:spPr>
          <a:xfrm>
            <a:off x="801965" y="3950593"/>
            <a:ext cx="320776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spc="14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LLMs in Simple Terms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801965" y="4241800"/>
            <a:ext cx="3207761" cy="1170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100" spc="11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Language Models (LLMs) are the engines behind tools like ChatGPT and Copilot. Think of them as an extremely well-read assistant who has absorbed millions of documents and can help you write, summarise, or analyse — instantly.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552836" y="5467449"/>
            <a:ext cx="421669" cy="19050"/>
          </a:xfrm>
          <a:prstGeom prst="roundRect">
            <a:avLst>
              <a:gd name="adj" fmla="val 49999"/>
            </a:avLst>
          </a:prstGeom>
          <a:solidFill>
            <a:srgbClr val="E5E5E5"/>
          </a:solidFill>
          <a:ln/>
        </p:spPr>
      </p:sp>
      <p:sp>
        <p:nvSpPr>
          <p:cNvPr id="24" name="Shape 20"/>
          <p:cNvSpPr/>
          <p:nvPr/>
        </p:nvSpPr>
        <p:spPr>
          <a:xfrm>
            <a:off x="4519202" y="5424289"/>
            <a:ext cx="105368" cy="1053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4993555" y="4800798"/>
            <a:ext cx="3488742" cy="1352451"/>
          </a:xfrm>
          <a:prstGeom prst="roundRect">
            <a:avLst>
              <a:gd name="adj" fmla="val 4366"/>
            </a:avLst>
          </a:prstGeom>
          <a:solidFill>
            <a:srgbClr val="ECF0EF"/>
          </a:solidFill>
          <a:ln/>
        </p:spPr>
      </p:sp>
      <p:sp>
        <p:nvSpPr>
          <p:cNvPr id="26" name="Text 22"/>
          <p:cNvSpPr/>
          <p:nvPr/>
        </p:nvSpPr>
        <p:spPr>
          <a:xfrm>
            <a:off x="5134045" y="4941292"/>
            <a:ext cx="320776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14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AI as Assistant, Not Authority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5134045" y="5232499"/>
            <a:ext cx="3207761" cy="7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spc="11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augments officer judgment — it does not replace it. Final decisions, official communications, and procedural actions must always carry human review and accountability.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04792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09399" y="536079"/>
            <a:ext cx="1290704" cy="238820"/>
          </a:xfrm>
          <a:prstGeom prst="roundRect">
            <a:avLst>
              <a:gd name="adj" fmla="val 22106"/>
            </a:avLst>
          </a:prstGeom>
          <a:solidFill>
            <a:srgbClr val="E6D5B8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654" y="592634"/>
            <a:ext cx="125608" cy="12561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92066" y="583208"/>
            <a:ext cx="1523367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1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 WORD + AI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3709399" y="834529"/>
            <a:ext cx="7820822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spc="31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AI-Assisted Document Work in MS Word</a:t>
            </a:r>
            <a:endParaRPr lang="en-US" sz="3050" dirty="0"/>
          </a:p>
        </p:txBody>
      </p:sp>
      <p:sp>
        <p:nvSpPr>
          <p:cNvPr id="7" name="Shape 3"/>
          <p:cNvSpPr/>
          <p:nvPr/>
        </p:nvSpPr>
        <p:spPr>
          <a:xfrm>
            <a:off x="3709399" y="1549301"/>
            <a:ext cx="3835800" cy="2188865"/>
          </a:xfrm>
          <a:prstGeom prst="roundRect">
            <a:avLst>
              <a:gd name="adj" fmla="val 3015"/>
            </a:avLst>
          </a:prstGeom>
          <a:solidFill>
            <a:srgbClr val="ECF0EF"/>
          </a:solidFill>
          <a:ln/>
        </p:spPr>
      </p:sp>
      <p:sp>
        <p:nvSpPr>
          <p:cNvPr id="8" name="Shape 4"/>
          <p:cNvSpPr/>
          <p:nvPr/>
        </p:nvSpPr>
        <p:spPr>
          <a:xfrm>
            <a:off x="3866458" y="1706364"/>
            <a:ext cx="471277" cy="471289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6034" y="1835944"/>
            <a:ext cx="212025" cy="2120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66458" y="2326878"/>
            <a:ext cx="352168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Drafting Official Letters &amp; Notices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3866458" y="2661940"/>
            <a:ext cx="3521681" cy="919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the purpose in plain language; AI produces a formally structured draft ready for review — headings, salutation, body, and closing included.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7694420" y="1549301"/>
            <a:ext cx="3835800" cy="2188865"/>
          </a:xfrm>
          <a:prstGeom prst="roundRect">
            <a:avLst>
              <a:gd name="adj" fmla="val 3015"/>
            </a:avLst>
          </a:prstGeom>
          <a:solidFill>
            <a:srgbClr val="ECF0EF"/>
          </a:solidFill>
          <a:ln/>
        </p:spPr>
      </p:sp>
      <p:sp>
        <p:nvSpPr>
          <p:cNvPr id="13" name="Shape 8"/>
          <p:cNvSpPr/>
          <p:nvPr/>
        </p:nvSpPr>
        <p:spPr>
          <a:xfrm>
            <a:off x="7851479" y="1706364"/>
            <a:ext cx="471277" cy="471289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81056" y="1835944"/>
            <a:ext cx="212025" cy="2120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851479" y="2326878"/>
            <a:ext cx="352168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Summarising &amp; Extracting Key Points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7851479" y="2661940"/>
            <a:ext cx="3521681" cy="919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a lengthy order, circular, or report and instruct AI to produce a concise summary or extract action items — saving hours of reading time.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709399" y="3887391"/>
            <a:ext cx="3835800" cy="2434431"/>
          </a:xfrm>
          <a:prstGeom prst="roundRect">
            <a:avLst>
              <a:gd name="adj" fmla="val 2711"/>
            </a:avLst>
          </a:prstGeom>
          <a:solidFill>
            <a:srgbClr val="ECF0EF"/>
          </a:solidFill>
          <a:ln/>
        </p:spPr>
      </p:sp>
      <p:sp>
        <p:nvSpPr>
          <p:cNvPr id="18" name="Shape 12"/>
          <p:cNvSpPr/>
          <p:nvPr/>
        </p:nvSpPr>
        <p:spPr>
          <a:xfrm>
            <a:off x="3866458" y="4044454"/>
            <a:ext cx="471277" cy="471289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96034" y="4174034"/>
            <a:ext cx="212025" cy="21203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66458" y="4664968"/>
            <a:ext cx="3521681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Grammar, Tone &amp; Clarity Improvement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3866458" y="5245596"/>
            <a:ext cx="3521681" cy="919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reviews drafts for grammatical errors, passive voice overuse, and inconsistent tone — applying formal government-office language standards automatically.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7694420" y="3887391"/>
            <a:ext cx="3835800" cy="2434431"/>
          </a:xfrm>
          <a:prstGeom prst="roundRect">
            <a:avLst>
              <a:gd name="adj" fmla="val 2711"/>
            </a:avLst>
          </a:prstGeom>
          <a:solidFill>
            <a:srgbClr val="ECF0EF"/>
          </a:solidFill>
          <a:ln/>
        </p:spPr>
      </p:sp>
      <p:sp>
        <p:nvSpPr>
          <p:cNvPr id="23" name="Shape 16"/>
          <p:cNvSpPr/>
          <p:nvPr/>
        </p:nvSpPr>
        <p:spPr>
          <a:xfrm>
            <a:off x="7851479" y="4044454"/>
            <a:ext cx="471277" cy="471289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81056" y="4174034"/>
            <a:ext cx="212025" cy="21203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851479" y="4664968"/>
            <a:ext cx="3521681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Converting Notes into Structured Documents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7851479" y="5245596"/>
            <a:ext cx="3521681" cy="919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Rough meeting notes, bullet points, or scattered observations become polished reports, meeting minutes, or office memoranda with a single prompt.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4973"/>
            <a:ext cx="1296062" cy="238820"/>
          </a:xfrm>
          <a:prstGeom prst="roundRect">
            <a:avLst>
              <a:gd name="adj" fmla="val 22106"/>
            </a:avLst>
          </a:prstGeom>
          <a:solidFill>
            <a:srgbClr val="E6D5B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730" y="631527"/>
            <a:ext cx="125608" cy="1256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4142" y="622102"/>
            <a:ext cx="1528724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1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 EXCEL + AI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873423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spc="31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AI-Powered Data Work in MS Excel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661475" y="1588195"/>
            <a:ext cx="1147833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dramatically reduces the time officers spend on routine data tasks — freeing capacity for analysis, decision-making, and action.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1475" y="1985863"/>
            <a:ext cx="3523368" cy="2418655"/>
          </a:xfrm>
          <a:prstGeom prst="roundRect">
            <a:avLst>
              <a:gd name="adj" fmla="val 2728"/>
            </a:avLst>
          </a:prstGeom>
          <a:solidFill>
            <a:srgbClr val="ECF0EF"/>
          </a:solidFill>
          <a:ln/>
        </p:spPr>
      </p:sp>
      <p:sp>
        <p:nvSpPr>
          <p:cNvPr id="8" name="Shape 5"/>
          <p:cNvSpPr/>
          <p:nvPr/>
        </p:nvSpPr>
        <p:spPr>
          <a:xfrm>
            <a:off x="818534" y="2142927"/>
            <a:ext cx="471277" cy="471289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111" y="2272506"/>
            <a:ext cx="212025" cy="2120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8534" y="2763441"/>
            <a:ext cx="320924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18534" y="3098502"/>
            <a:ext cx="3209249" cy="1148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and fix inconsistent formats, duplicate entries, missing values, and spelling errors in datasets using AI-suggested formulas or Copilot commands.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34064" y="1985863"/>
            <a:ext cx="3523467" cy="2418655"/>
          </a:xfrm>
          <a:prstGeom prst="roundRect">
            <a:avLst>
              <a:gd name="adj" fmla="val 2728"/>
            </a:avLst>
          </a:prstGeom>
          <a:solidFill>
            <a:srgbClr val="ECF0EF"/>
          </a:solidFill>
          <a:ln/>
        </p:spPr>
      </p:sp>
      <p:sp>
        <p:nvSpPr>
          <p:cNvPr id="13" name="Shape 9"/>
          <p:cNvSpPr/>
          <p:nvPr/>
        </p:nvSpPr>
        <p:spPr>
          <a:xfrm>
            <a:off x="4491124" y="2142927"/>
            <a:ext cx="471277" cy="471289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0700" y="2272506"/>
            <a:ext cx="212025" cy="2120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91124" y="2763441"/>
            <a:ext cx="320934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Formulas &amp; Functions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491124" y="3098502"/>
            <a:ext cx="3209349" cy="1148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what you need in plain English — "calculate month-wise totals and percentage share" — and AI writes the correct formula, including complex nested functions.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06753" y="1985863"/>
            <a:ext cx="3523368" cy="2418655"/>
          </a:xfrm>
          <a:prstGeom prst="roundRect">
            <a:avLst>
              <a:gd name="adj" fmla="val 2728"/>
            </a:avLst>
          </a:prstGeom>
          <a:solidFill>
            <a:srgbClr val="ECF0EF"/>
          </a:solidFill>
          <a:ln/>
        </p:spPr>
      </p:sp>
      <p:sp>
        <p:nvSpPr>
          <p:cNvPr id="18" name="Shape 13"/>
          <p:cNvSpPr/>
          <p:nvPr/>
        </p:nvSpPr>
        <p:spPr>
          <a:xfrm>
            <a:off x="8163812" y="2142927"/>
            <a:ext cx="471277" cy="471289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93389" y="2272506"/>
            <a:ext cx="212025" cy="21203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63812" y="2763441"/>
            <a:ext cx="320924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Trends, Anomalies &amp; Charts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163812" y="3098502"/>
            <a:ext cx="3209249" cy="1148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scans tabular data to highlight outliers, seasonal patterns, and unusual figures — and can generate an appropriate chart type with labelling and a brief narrative insight.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61475" y="4553744"/>
            <a:ext cx="10868646" cy="1729284"/>
          </a:xfrm>
          <a:prstGeom prst="roundRect">
            <a:avLst>
              <a:gd name="adj" fmla="val 3816"/>
            </a:avLst>
          </a:prstGeom>
          <a:solidFill>
            <a:srgbClr val="ECF0EF"/>
          </a:solidFill>
          <a:ln/>
        </p:spPr>
      </p:sp>
      <p:sp>
        <p:nvSpPr>
          <p:cNvPr id="23" name="Shape 17"/>
          <p:cNvSpPr/>
          <p:nvPr/>
        </p:nvSpPr>
        <p:spPr>
          <a:xfrm>
            <a:off x="818534" y="4710807"/>
            <a:ext cx="471277" cy="471289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8111" y="4840387"/>
            <a:ext cx="212025" cy="21203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18534" y="5331321"/>
            <a:ext cx="1055452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Generating Plain-Language Insights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818534" y="5666383"/>
            <a:ext cx="10554527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"Summarise this dataset in 5 bullet points for a senior officer" — AI converts numbers into an executive-ready narrative without manual interpretation.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93452"/>
            <a:ext cx="1915668" cy="201116"/>
          </a:xfrm>
          <a:prstGeom prst="roundRect">
            <a:avLst>
              <a:gd name="adj" fmla="val 22105"/>
            </a:avLst>
          </a:prstGeom>
          <a:solidFill>
            <a:srgbClr val="E6D5B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848" y="841077"/>
            <a:ext cx="105765" cy="105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9495" y="833140"/>
            <a:ext cx="2207860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1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POWERPOINT · EMAIL · TOOLS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61475" y="103683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2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AI for Presentations, Email &amp; Key Tools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61475" y="1714798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AI + MS PowerPoint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083" y="2044601"/>
            <a:ext cx="198433" cy="1984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1379" y="2040533"/>
            <a:ext cx="484314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Outline Generation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91379" y="2352973"/>
            <a:ext cx="48431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a report or brief into a ready-to-use slide outline in seconds.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083" y="2747268"/>
            <a:ext cx="198433" cy="1984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1379" y="2743200"/>
            <a:ext cx="484314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Speaker Notes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091379" y="3055640"/>
            <a:ext cx="48431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drafts talking points for each slide so presenters stay on message.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083" y="3449935"/>
            <a:ext cx="198433" cy="1984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1379" y="3445867"/>
            <a:ext cx="484314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Executive Summaries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091379" y="3758307"/>
            <a:ext cx="48431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Condense a full deck into a 3-slide summary for senior leadership.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263523" y="1714798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AI + Official Email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13131" y="2044601"/>
            <a:ext cx="198433" cy="19843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93427" y="2040533"/>
            <a:ext cx="484314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Professional Drafts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6693427" y="2352973"/>
            <a:ext cx="48431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Compose formal, appropriately toned emails from bullet-point instructions.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13131" y="2747268"/>
            <a:ext cx="198433" cy="19843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693427" y="2743200"/>
            <a:ext cx="484314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Thread Summarisation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6693427" y="3055640"/>
            <a:ext cx="4843143" cy="357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a long email chain; receive a concise summary of decisions and action points.</a:t>
            </a:r>
            <a:endParaRPr lang="en-US" sz="10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13131" y="3628529"/>
            <a:ext cx="198433" cy="19843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693427" y="3624461"/>
            <a:ext cx="484314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Tone Adjustment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6693427" y="3936901"/>
            <a:ext cx="48431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drafts between formal, semi-formal, or simplified language instantly.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661475" y="4353620"/>
            <a:ext cx="3552339" cy="891877"/>
          </a:xfrm>
          <a:prstGeom prst="roundRect">
            <a:avLst>
              <a:gd name="adj" fmla="val 6231"/>
            </a:avLst>
          </a:prstGeom>
          <a:solidFill>
            <a:srgbClr val="ECF0EF"/>
          </a:solidFill>
          <a:ln/>
        </p:spPr>
      </p:sp>
      <p:sp>
        <p:nvSpPr>
          <p:cNvPr id="27" name="Text 18"/>
          <p:cNvSpPr/>
          <p:nvPr/>
        </p:nvSpPr>
        <p:spPr>
          <a:xfrm>
            <a:off x="793730" y="4485878"/>
            <a:ext cx="32878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00000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ChatGPT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793730" y="4756051"/>
            <a:ext cx="3287829" cy="357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General-purpose AI assistant for drafting, summarising, and brainstorming across any task.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4319579" y="4353620"/>
            <a:ext cx="3552438" cy="891877"/>
          </a:xfrm>
          <a:prstGeom prst="roundRect">
            <a:avLst>
              <a:gd name="adj" fmla="val 6231"/>
            </a:avLst>
          </a:prstGeom>
          <a:solidFill>
            <a:srgbClr val="ECF0EF"/>
          </a:solidFill>
          <a:ln/>
        </p:spPr>
      </p:sp>
      <p:sp>
        <p:nvSpPr>
          <p:cNvPr id="30" name="Text 21"/>
          <p:cNvSpPr/>
          <p:nvPr/>
        </p:nvSpPr>
        <p:spPr>
          <a:xfrm>
            <a:off x="4451834" y="4485878"/>
            <a:ext cx="32879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00000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Microsoft Copilot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4451834" y="4756051"/>
            <a:ext cx="3287928" cy="357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in Microsoft 365 — works directly inside Word, Excel, PowerPoint, and Outlook.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7977782" y="4353620"/>
            <a:ext cx="3552438" cy="891877"/>
          </a:xfrm>
          <a:prstGeom prst="roundRect">
            <a:avLst>
              <a:gd name="adj" fmla="val 6231"/>
            </a:avLst>
          </a:prstGeom>
          <a:solidFill>
            <a:srgbClr val="ECF0EF"/>
          </a:solidFill>
          <a:ln/>
        </p:spPr>
      </p:sp>
      <p:sp>
        <p:nvSpPr>
          <p:cNvPr id="33" name="Text 24"/>
          <p:cNvSpPr/>
          <p:nvPr/>
        </p:nvSpPr>
        <p:spPr>
          <a:xfrm>
            <a:off x="8110037" y="4485878"/>
            <a:ext cx="32879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00000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Google Gemini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8110037" y="4756051"/>
            <a:ext cx="3287928" cy="357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into Google Workspace; useful for document analysis and collaborative drafting.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661475" y="5351264"/>
            <a:ext cx="10868745" cy="713284"/>
          </a:xfrm>
          <a:prstGeom prst="roundRect">
            <a:avLst>
              <a:gd name="adj" fmla="val 7791"/>
            </a:avLst>
          </a:prstGeom>
          <a:solidFill>
            <a:srgbClr val="ECF0EF"/>
          </a:solidFill>
          <a:ln/>
        </p:spPr>
      </p:sp>
      <p:sp>
        <p:nvSpPr>
          <p:cNvPr id="36" name="Text 27"/>
          <p:cNvSpPr/>
          <p:nvPr/>
        </p:nvSpPr>
        <p:spPr>
          <a:xfrm>
            <a:off x="793730" y="5483523"/>
            <a:ext cx="1060423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00000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OCR / Document AI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793730" y="5753695"/>
            <a:ext cx="1060423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physical documents into editable, searchable text — valuable for legacy paper records.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55049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005310"/>
            <a:ext cx="1435263" cy="188516"/>
          </a:xfrm>
          <a:prstGeom prst="roundRect">
            <a:avLst>
              <a:gd name="adj" fmla="val 22109"/>
            </a:avLst>
          </a:prstGeom>
          <a:solidFill>
            <a:srgbClr val="E6D5B8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87" y="2049959"/>
            <a:ext cx="99216" cy="9921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4711" y="2042517"/>
            <a:ext cx="1747198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spc="1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ENGINEERING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661475" y="2231033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24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Writing Effective Prompts: A Framework for Officers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61475" y="2758182"/>
            <a:ext cx="11478330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quality of AI output depends entirely on the quality of your instruction. Use this six-part framework to get consistently useful results from any AI tool.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661475" y="3025477"/>
            <a:ext cx="10868745" cy="2469059"/>
          </a:xfrm>
          <a:prstGeom prst="roundRect">
            <a:avLst>
              <a:gd name="adj" fmla="val 2110"/>
            </a:avLst>
          </a:prstGeom>
          <a:solidFill>
            <a:srgbClr val="ECF0EF"/>
          </a:solidFill>
          <a:ln/>
        </p:spPr>
      </p:sp>
      <p:sp>
        <p:nvSpPr>
          <p:cNvPr id="9" name="Shape 5"/>
          <p:cNvSpPr/>
          <p:nvPr/>
        </p:nvSpPr>
        <p:spPr>
          <a:xfrm>
            <a:off x="661475" y="3025477"/>
            <a:ext cx="5434373" cy="823020"/>
          </a:xfrm>
          <a:custGeom>
            <a:avLst/>
            <a:gdLst/>
            <a:ahLst/>
            <a:cxnLst/>
            <a:rect l="l" t="t" r="r" b="b"/>
            <a:pathLst>
              <a:path w="5434373" h="823020">
                <a:moveTo>
                  <a:pt x="43415" y="0"/>
                </a:moveTo>
                <a:lnTo>
                  <a:pt x="5434373" y="0"/>
                </a:lnTo>
                <a:lnTo>
                  <a:pt x="5434373" y="823020"/>
                </a:lnTo>
                <a:lnTo>
                  <a:pt x="0" y="823020"/>
                </a:lnTo>
                <a:lnTo>
                  <a:pt x="0" y="43416"/>
                </a:lnTo>
                <a:arcTo hR="43416" wR="43415" stAng="10800000" swAng="5400000"/>
                <a:close/>
              </a:path>
            </a:pathLst>
          </a:custGeom>
          <a:solidFill>
            <a:srgbClr val="ECF0EF"/>
          </a:solidFill>
          <a:ln/>
        </p:spPr>
      </p:sp>
      <p:sp>
        <p:nvSpPr>
          <p:cNvPr id="10" name="Text 6"/>
          <p:cNvSpPr/>
          <p:nvPr/>
        </p:nvSpPr>
        <p:spPr>
          <a:xfrm>
            <a:off x="785495" y="3149501"/>
            <a:ext cx="51863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Role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85495" y="3399036"/>
            <a:ext cx="5186332" cy="325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AI what persona to adopt.</a:t>
            </a:r>
            <a:endParaRPr lang="en-US" sz="9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50" i="1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"Act as an administrative assistant…"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095848" y="3025477"/>
            <a:ext cx="5434373" cy="823020"/>
          </a:xfrm>
          <a:custGeom>
            <a:avLst/>
            <a:gdLst/>
            <a:ahLst/>
            <a:cxnLst/>
            <a:rect l="l" t="t" r="r" b="b"/>
            <a:pathLst>
              <a:path w="5434373" h="823020">
                <a:moveTo>
                  <a:pt x="0" y="0"/>
                </a:moveTo>
                <a:lnTo>
                  <a:pt x="5390957" y="0"/>
                </a:lnTo>
                <a:arcTo hR="43416" wR="43415" stAng="16200000" swAng="5400000"/>
                <a:lnTo>
                  <a:pt x="5434373" y="823020"/>
                </a:lnTo>
                <a:lnTo>
                  <a:pt x="0" y="823020"/>
                </a:lnTo>
                <a:lnTo>
                  <a:pt x="0" y="0"/>
                </a:lnTo>
                <a:close/>
              </a:path>
            </a:pathLst>
          </a:custGeom>
          <a:solidFill>
            <a:srgbClr val="ECF0EF"/>
          </a:solidFill>
          <a:ln/>
        </p:spPr>
      </p:sp>
      <p:sp>
        <p:nvSpPr>
          <p:cNvPr id="13" name="Shape 9"/>
          <p:cNvSpPr/>
          <p:nvPr/>
        </p:nvSpPr>
        <p:spPr>
          <a:xfrm>
            <a:off x="6095848" y="3025477"/>
            <a:ext cx="12700" cy="823020"/>
          </a:xfrm>
          <a:prstGeom prst="roundRect">
            <a:avLst>
              <a:gd name="adj" fmla="val 49999"/>
            </a:avLst>
          </a:prstGeom>
          <a:solidFill>
            <a:srgbClr val="D2D6D5"/>
          </a:solidFill>
          <a:ln/>
        </p:spPr>
      </p:sp>
      <p:sp>
        <p:nvSpPr>
          <p:cNvPr id="14" name="Text 10"/>
          <p:cNvSpPr/>
          <p:nvPr/>
        </p:nvSpPr>
        <p:spPr>
          <a:xfrm>
            <a:off x="6219868" y="3149501"/>
            <a:ext cx="51863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Task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219868" y="3399036"/>
            <a:ext cx="5186332" cy="325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the exact action required.</a:t>
            </a:r>
            <a:endParaRPr lang="en-US" sz="9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50" i="1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"…draft a meeting-summary note…"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61475" y="3848497"/>
            <a:ext cx="5434373" cy="823020"/>
          </a:xfrm>
          <a:prstGeom prst="rect">
            <a:avLst/>
          </a:prstGeom>
          <a:solidFill>
            <a:srgbClr val="ECF0EF"/>
          </a:solidFill>
          <a:ln/>
        </p:spPr>
      </p:sp>
      <p:sp>
        <p:nvSpPr>
          <p:cNvPr id="17" name="Shape 13"/>
          <p:cNvSpPr/>
          <p:nvPr/>
        </p:nvSpPr>
        <p:spPr>
          <a:xfrm>
            <a:off x="661475" y="3848497"/>
            <a:ext cx="5434373" cy="12700"/>
          </a:xfrm>
          <a:prstGeom prst="roundRect">
            <a:avLst>
              <a:gd name="adj" fmla="val 49999"/>
            </a:avLst>
          </a:prstGeom>
          <a:solidFill>
            <a:srgbClr val="D2D6D5"/>
          </a:solidFill>
          <a:ln/>
        </p:spPr>
      </p:sp>
      <p:sp>
        <p:nvSpPr>
          <p:cNvPr id="18" name="Text 14"/>
          <p:cNvSpPr/>
          <p:nvPr/>
        </p:nvSpPr>
        <p:spPr>
          <a:xfrm>
            <a:off x="785495" y="3972520"/>
            <a:ext cx="51863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Context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85495" y="4222055"/>
            <a:ext cx="5186332" cy="325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background and purpose.</a:t>
            </a:r>
            <a:endParaRPr lang="en-US" sz="9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50" i="1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"…based on the following discussion points…"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095848" y="3848497"/>
            <a:ext cx="5434373" cy="823020"/>
          </a:xfrm>
          <a:prstGeom prst="rect">
            <a:avLst/>
          </a:prstGeom>
          <a:solidFill>
            <a:srgbClr val="ECF0EF"/>
          </a:solidFill>
          <a:ln/>
        </p:spPr>
      </p:sp>
      <p:sp>
        <p:nvSpPr>
          <p:cNvPr id="21" name="Shape 17"/>
          <p:cNvSpPr/>
          <p:nvPr/>
        </p:nvSpPr>
        <p:spPr>
          <a:xfrm>
            <a:off x="6095848" y="3848497"/>
            <a:ext cx="12700" cy="823020"/>
          </a:xfrm>
          <a:prstGeom prst="roundRect">
            <a:avLst>
              <a:gd name="adj" fmla="val 49999"/>
            </a:avLst>
          </a:prstGeom>
          <a:solidFill>
            <a:srgbClr val="D2D6D5"/>
          </a:solidFill>
          <a:ln/>
        </p:spPr>
      </p:sp>
      <p:sp>
        <p:nvSpPr>
          <p:cNvPr id="22" name="Shape 18"/>
          <p:cNvSpPr/>
          <p:nvPr/>
        </p:nvSpPr>
        <p:spPr>
          <a:xfrm>
            <a:off x="6095848" y="3848497"/>
            <a:ext cx="5434373" cy="12700"/>
          </a:xfrm>
          <a:prstGeom prst="roundRect">
            <a:avLst>
              <a:gd name="adj" fmla="val 49999"/>
            </a:avLst>
          </a:prstGeom>
          <a:solidFill>
            <a:srgbClr val="D2D6D5"/>
          </a:solidFill>
          <a:ln/>
        </p:spPr>
      </p:sp>
      <p:sp>
        <p:nvSpPr>
          <p:cNvPr id="23" name="Text 19"/>
          <p:cNvSpPr/>
          <p:nvPr/>
        </p:nvSpPr>
        <p:spPr>
          <a:xfrm>
            <a:off x="6219868" y="3972520"/>
            <a:ext cx="51863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219868" y="4222055"/>
            <a:ext cx="5186332" cy="325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boundaries on tone and length.</a:t>
            </a:r>
            <a:endParaRPr lang="en-US" sz="9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50" i="1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"…use formal government-office language…"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61475" y="4671516"/>
            <a:ext cx="10868745" cy="823020"/>
          </a:xfrm>
          <a:custGeom>
            <a:avLst/>
            <a:gdLst/>
            <a:ahLst/>
            <a:cxnLst/>
            <a:rect l="l" t="t" r="r" b="b"/>
            <a:pathLst>
              <a:path w="10868745" h="823020">
                <a:moveTo>
                  <a:pt x="0" y="0"/>
                </a:moveTo>
                <a:lnTo>
                  <a:pt x="10868745" y="0"/>
                </a:lnTo>
                <a:lnTo>
                  <a:pt x="10868745" y="779603"/>
                </a:lnTo>
                <a:arcTo hR="43416" wR="43415" stAng="0" swAng="5400000"/>
                <a:lnTo>
                  <a:pt x="43415" y="823020"/>
                </a:lnTo>
                <a:arcTo hR="43416" wR="43415" stAng="5400000" swAng="5400000"/>
                <a:lnTo>
                  <a:pt x="0" y="0"/>
                </a:lnTo>
                <a:close/>
              </a:path>
            </a:pathLst>
          </a:custGeom>
          <a:solidFill>
            <a:srgbClr val="ECF0EF"/>
          </a:solidFill>
          <a:ln/>
        </p:spPr>
      </p:sp>
      <p:sp>
        <p:nvSpPr>
          <p:cNvPr id="26" name="Shape 22"/>
          <p:cNvSpPr/>
          <p:nvPr/>
        </p:nvSpPr>
        <p:spPr>
          <a:xfrm>
            <a:off x="661475" y="4671516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D2D6D5"/>
          </a:solidFill>
          <a:ln/>
        </p:spPr>
      </p:sp>
      <p:sp>
        <p:nvSpPr>
          <p:cNvPr id="27" name="Text 23"/>
          <p:cNvSpPr/>
          <p:nvPr/>
        </p:nvSpPr>
        <p:spPr>
          <a:xfrm>
            <a:off x="785495" y="4795540"/>
            <a:ext cx="1062070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Output Format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85495" y="5045075"/>
            <a:ext cx="10620705" cy="325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Specify the structure of the response.</a:t>
            </a:r>
            <a:endParaRPr lang="en-US" sz="9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50" i="1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"…include Background, Key Discussions, Decisions, and Action Items."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61475" y="5599113"/>
            <a:ext cx="10868745" cy="563959"/>
          </a:xfrm>
          <a:prstGeom prst="roundRect">
            <a:avLst>
              <a:gd name="adj" fmla="val 9238"/>
            </a:avLst>
          </a:prstGeom>
          <a:solidFill>
            <a:srgbClr val="D4F7F6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95" y="5728791"/>
            <a:ext cx="154976" cy="12402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064491" y="5723037"/>
            <a:ext cx="10341708" cy="325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spc="1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 Prompt:</a:t>
            </a:r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"Act as an administrative assistant. Draft a concise official meeting-summary note based on the following points. Use formal government-office language. Include Background, Key Discussions, Decisions and Action Items."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7863"/>
            <a:ext cx="1885407" cy="201116"/>
          </a:xfrm>
          <a:prstGeom prst="roundRect">
            <a:avLst>
              <a:gd name="adj" fmla="val 22105"/>
            </a:avLst>
          </a:prstGeom>
          <a:solidFill>
            <a:srgbClr val="E6D5B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848" y="725488"/>
            <a:ext cx="105765" cy="105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9495" y="717550"/>
            <a:ext cx="2177599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1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DEMONSTRATION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61475" y="92124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2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End-to-End Workflow: Raw Information → Official Output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61475" y="1493441"/>
            <a:ext cx="1147833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demonstration ties all tools together using one realistic office scenario — showing how AI accelerates each stage of the work without removing officer accountability.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389" y="1791097"/>
            <a:ext cx="8694917" cy="3912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58129" y="1972419"/>
            <a:ext cx="1521603" cy="235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Raw Info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3058129" y="2274448"/>
            <a:ext cx="1521603" cy="33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50" spc="14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Rough notes and field data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63010" y="4907012"/>
            <a:ext cx="1529963" cy="235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AI + Word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563010" y="5209041"/>
            <a:ext cx="1529963" cy="33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50" spc="14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Drafted and polished official report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051171" y="1943156"/>
            <a:ext cx="1521602" cy="235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AI + Excel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051171" y="2245185"/>
            <a:ext cx="1521602" cy="33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50" spc="14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data and generate charts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556054" y="4822360"/>
            <a:ext cx="1521602" cy="235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AI + Email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556054" y="5124389"/>
            <a:ext cx="1521602" cy="507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50" spc="14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formal outcome to stakeholders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61475" y="5822950"/>
            <a:ext cx="10868745" cy="357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stage uses a focused AI prompt. The officer reviews, refines, and approves every output before it moves forward — AI accelerates execution, but judgment remains human.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3771" y="0"/>
            <a:ext cx="304792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853182"/>
            <a:ext cx="1428714" cy="201116"/>
          </a:xfrm>
          <a:prstGeom prst="roundRect">
            <a:avLst>
              <a:gd name="adj" fmla="val 22105"/>
            </a:avLst>
          </a:prstGeom>
          <a:solidFill>
            <a:srgbClr val="E6D5B8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48" y="900807"/>
            <a:ext cx="105765" cy="1057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99495" y="892870"/>
            <a:ext cx="1720906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1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RESPONSIBLE AI USE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661475" y="1096566"/>
            <a:ext cx="7820822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2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Secure &amp; Responsible AI Usage — Especially for NIA Officers</a:t>
            </a:r>
            <a:endParaRPr lang="en-US" sz="2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082205"/>
            <a:ext cx="3857528" cy="13152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8978" y="2233513"/>
            <a:ext cx="3478721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Never Enter Sensitive or Classified Information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888978" y="2710359"/>
            <a:ext cx="3478721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AI tools (ChatGPT, Gemini) send your input to external servers. Do not input confidential case data, personal identifiers, or restricted official information.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4768" y="2082205"/>
            <a:ext cx="3857528" cy="13152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52271" y="2233513"/>
            <a:ext cx="34787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Verify Every AI-Generated Fact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4852271" y="2503686"/>
            <a:ext cx="3478721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can confidently produce incorrect statistics, dates, legal provisions, and procedural details. Independent verification is mandatory before any official use.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503216"/>
            <a:ext cx="3857528" cy="128716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88978" y="3654524"/>
            <a:ext cx="34787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Human Review is Non-Negotiable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888978" y="3924697"/>
            <a:ext cx="347872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official communications, orders, notices, and reports generated with AI assistance must be reviewed, edited, and approved by a responsible officer before dispatch.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4768" y="3503216"/>
            <a:ext cx="3857528" cy="128716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852271" y="3654524"/>
            <a:ext cx="34787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Follow Organisational IT &amp; Security Policies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4852271" y="3924697"/>
            <a:ext cx="347872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only tools approved by your department. Comply with NIA and Government of India guidelines on data handling, cloud services, and official information security.</a:t>
            </a:r>
            <a:endParaRPr lang="en-US" sz="10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4896148"/>
            <a:ext cx="3857528" cy="1108571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88978" y="5047456"/>
            <a:ext cx="34787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Treat AI as an Assistant, Not an Authority</a:t>
            </a:r>
            <a:endParaRPr lang="en-US" sz="1300" dirty="0"/>
          </a:p>
        </p:txBody>
      </p:sp>
      <p:sp>
        <p:nvSpPr>
          <p:cNvPr id="21" name="Text 12"/>
          <p:cNvSpPr/>
          <p:nvPr/>
        </p:nvSpPr>
        <p:spPr>
          <a:xfrm>
            <a:off x="888978" y="5317629"/>
            <a:ext cx="3478721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has no legal standing, no accountability, and no contextual wisdom about your specific situation. Your judgment, experience, and authority are irreplaceable.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7820"/>
            <a:ext cx="1622087" cy="226219"/>
          </a:xfrm>
          <a:prstGeom prst="roundRect">
            <a:avLst>
              <a:gd name="adj" fmla="val 22109"/>
            </a:avLst>
          </a:prstGeom>
          <a:solidFill>
            <a:srgbClr val="E6D5B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69" y="711398"/>
            <a:ext cx="119060" cy="119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9359" y="702469"/>
            <a:ext cx="1874493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spc="1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ACTIVITY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61475" y="937617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spc="29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Practical Exercise — Apply What You Have Learned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661475" y="1603673"/>
            <a:ext cx="11478330" cy="21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through the following six tasks using AI tools and MS Office applications. Each task builds on the previous one, replicating a real officer workflow.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66416"/>
          <a:ext cx="9143771" cy="914400"/>
        </p:xfrm>
        <a:graphic>
          <a:graphicData uri="http://schemas.openxmlformats.org/drawingml/2006/table">
            <a:tbl>
              <a:tblPr/>
              <a:tblGrid>
                <a:gridCol w="869500"/>
                <a:gridCol w="3260624"/>
                <a:gridCol w="3477999"/>
                <a:gridCol w="3260624"/>
              </a:tblGrid>
              <a:tr h="597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spc="12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spc="12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Official Letter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12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 AI to draft a formal letter from a set of rough notes provided by the trainer.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12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MS Word + Copilot / ChatGPT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EF"/>
                    </a:solidFill>
                  </a:tcPr>
                </a:tc>
              </a:tr>
              <a:tr h="597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spc="12" kern="0" dirty="0">
                          <a:solidFill>
                            <a:srgbClr val="1257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spc="12" kern="0" dirty="0">
                          <a:solidFill>
                            <a:srgbClr val="1257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Document Summary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12" kern="0" dirty="0">
                          <a:solidFill>
                            <a:srgbClr val="1257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Summarise a one-page circular into 5 concise bullet points for a senior officer.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12" kern="0" dirty="0">
                          <a:solidFill>
                            <a:srgbClr val="1257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MS Word + AI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809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spc="12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spc="12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Dataset Analysis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12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Clean and analyse a provided Excel dataset; write the formula to calculate totals and percentage share.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12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MS Excel + Copilot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EF"/>
                    </a:solidFill>
                  </a:tcPr>
                </a:tc>
              </a:tr>
              <a:tr h="809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spc="12" kern="0" dirty="0">
                          <a:solidFill>
                            <a:srgbClr val="1257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spc="12" kern="0" dirty="0">
                          <a:solidFill>
                            <a:srgbClr val="1257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Chart &amp; Insights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12" kern="0" dirty="0">
                          <a:solidFill>
                            <a:srgbClr val="1257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Generate a bar chart from the dataset and produce a 3-sentence plain-language insight narrative.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12" kern="0" dirty="0">
                          <a:solidFill>
                            <a:srgbClr val="1257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MS Excel + AI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97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spc="12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spc="12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PowerPoint Brief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12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Convert the analysis findings into 3 PowerPoint slides with speaker notes.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12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MS PowerPoint + Copilot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EF"/>
                    </a:solidFill>
                  </a:tcPr>
                </a:tc>
              </a:tr>
              <a:tr h="809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spc="12" kern="0" dirty="0">
                          <a:solidFill>
                            <a:srgbClr val="1257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spc="12" kern="0" dirty="0">
                          <a:solidFill>
                            <a:srgbClr val="1257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Email Communication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12" kern="0" dirty="0">
                          <a:solidFill>
                            <a:srgbClr val="1257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Draft a formal email to stakeholders summarising the outcome and recommended action.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12" kern="0" dirty="0">
                          <a:solidFill>
                            <a:srgbClr val="1257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Outlook + AI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8606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404765"/>
            <a:ext cx="10868745" cy="93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spc="29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Work Smarter with AI —</a:t>
            </a:r>
            <a:endParaRPr lang="en-US" sz="29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900" spc="29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Verify, Refine, Decide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661475" y="3535958"/>
            <a:ext cx="5367402" cy="1246584"/>
          </a:xfrm>
          <a:prstGeom prst="roundRect">
            <a:avLst>
              <a:gd name="adj" fmla="val 5015"/>
            </a:avLst>
          </a:prstGeom>
          <a:solidFill>
            <a:srgbClr val="ECF0EF"/>
          </a:solidFill>
          <a:ln/>
        </p:spPr>
      </p:sp>
      <p:sp>
        <p:nvSpPr>
          <p:cNvPr id="5" name="Text 2"/>
          <p:cNvSpPr/>
          <p:nvPr/>
        </p:nvSpPr>
        <p:spPr>
          <a:xfrm>
            <a:off x="810299" y="3684786"/>
            <a:ext cx="50697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AI Saves Time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10299" y="3997623"/>
            <a:ext cx="5069753" cy="636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Drafting, summarising, analysing, and presenting — tasks that took hours can now take minutes. Use that time for deeper thinking, better decisions, and meaningful work.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62818" y="3535958"/>
            <a:ext cx="5367402" cy="1246584"/>
          </a:xfrm>
          <a:prstGeom prst="roundRect">
            <a:avLst>
              <a:gd name="adj" fmla="val 5015"/>
            </a:avLst>
          </a:prstGeom>
          <a:solidFill>
            <a:srgbClr val="ECF0EF"/>
          </a:solidFill>
          <a:ln/>
        </p:spPr>
      </p:sp>
      <p:sp>
        <p:nvSpPr>
          <p:cNvPr id="8" name="Text 5"/>
          <p:cNvSpPr/>
          <p:nvPr/>
        </p:nvSpPr>
        <p:spPr>
          <a:xfrm>
            <a:off x="6311643" y="3684786"/>
            <a:ext cx="50697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But Your Judgment Leads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311643" y="3997623"/>
            <a:ext cx="5069753" cy="636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AI output is a first draft — not a final answer. Review it, correct it, and approve it. As an officer, you carry the authority and the accountability. AI does not.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1475" y="4916488"/>
            <a:ext cx="10868745" cy="1034554"/>
          </a:xfrm>
          <a:prstGeom prst="roundRect">
            <a:avLst>
              <a:gd name="adj" fmla="val 6043"/>
            </a:avLst>
          </a:prstGeom>
          <a:solidFill>
            <a:srgbClr val="ECF0EF"/>
          </a:solidFill>
          <a:ln/>
        </p:spPr>
      </p:sp>
      <p:sp>
        <p:nvSpPr>
          <p:cNvPr id="11" name="Text 8"/>
          <p:cNvSpPr/>
          <p:nvPr/>
        </p:nvSpPr>
        <p:spPr>
          <a:xfrm>
            <a:off x="810299" y="5065316"/>
            <a:ext cx="10571096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Practice Makes Proficiency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10299" y="5378152"/>
            <a:ext cx="10571096" cy="42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more you prompt, the better your results. Start with small tasks — a summary, a draft, a formula — and build confidence through daily use. Expertise follows practice.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56682" y="6101755"/>
            <a:ext cx="11478330" cy="21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150" b="1" spc="12" kern="0" dirty="0">
                <a:solidFill>
                  <a:srgbClr val="12575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 · CBITSS Chandigarh · NIA Branch Office Chandigarh · 03 October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2026-09-26T16:48:16Z</dcterms:created>
  <dcterms:modified xsi:type="dcterms:W3CDTF">2026-09-26T16:48:16Z</dcterms:modified>
</cp:coreProperties>
</file>